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21387800" cx="302757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" roundtripDataSignature="AMtx7miayIxNzqaAwAc9CKiok60CtgJa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53639D-4725-49BB-A089-908B5F014B0A}">
  <a:tblStyle styleId="{5D53639D-4725-49BB-A089-908B5F014B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3.png"/><Relationship Id="rId13" Type="http://schemas.openxmlformats.org/officeDocument/2006/relationships/image" Target="../media/image9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5" Type="http://schemas.openxmlformats.org/officeDocument/2006/relationships/image" Target="../media/image12.png"/><Relationship Id="rId1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0275784" cy="265176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74320" y="164592"/>
            <a:ext cx="297271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Monocular to Metric Stereo Visual Odometry on the TUM VI Benchmark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74320" y="1188720"/>
            <a:ext cx="29727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Mayet Bekele Sharew  ·  Li Xinning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74320" y="1719072"/>
            <a:ext cx="29727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FDBFF"/>
                </a:solidFill>
                <a:latin typeface="Calibri"/>
                <a:ea typeface="Calibri"/>
                <a:cs typeface="Calibri"/>
                <a:sym typeface="Calibri"/>
              </a:rPr>
              <a:t>Master's in Computer Vision and Robotics  ·  Université de Bourgogne  ·  Le Creusot, France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0" y="2596896"/>
            <a:ext cx="30275784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637525" y="2788920"/>
            <a:ext cx="18288" cy="18095976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5137891" y="2788920"/>
            <a:ext cx="18288" cy="18095976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2638257" y="2788920"/>
            <a:ext cx="18288" cy="18095976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73625" y="2793539"/>
            <a:ext cx="7317600" cy="329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01750" y="2798074"/>
            <a:ext cx="547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74320" y="3118104"/>
            <a:ext cx="7226046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Visual Odometry (VO) estimates camera ego-motion from image sequences — no GPS, no wheel encoders required.</a:t>
            </a:r>
            <a:endParaRPr/>
          </a:p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Monocular VO: inherent scale ambiguity — translation is correct only up to an unknown scale factor.</a:t>
            </a:r>
            <a:endParaRPr/>
          </a:p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Stereo VO: known baseline B + disparity d → metric depth  Z = fB / d.</a:t>
            </a:r>
            <a:endParaRPr/>
          </a:p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This work implements both pipelines from scratch in Python using only classical geometry (no deep learning).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23325" y="5845524"/>
            <a:ext cx="7317600" cy="329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10300" y="5810397"/>
            <a:ext cx="605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— TUM VI BENCHMARK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274320" y="4837176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fB = 18.92 px·m  ·  Z = 15 m  →  d ≈ 1.3 px disparity</a:t>
            </a:r>
            <a:endParaRPr/>
          </a:p>
        </p:txBody>
      </p:sp>
      <p:graphicFrame>
        <p:nvGraphicFramePr>
          <p:cNvPr id="98" name="Google Shape;98;p1"/>
          <p:cNvGraphicFramePr/>
          <p:nvPr/>
        </p:nvGraphicFramePr>
        <p:xfrm>
          <a:off x="201175" y="63598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{5D53639D-4725-49BB-A089-908B5F014B0A}</a:tableStyleId>
              </a:tblPr>
              <a:tblGrid>
                <a:gridCol w="2048900"/>
                <a:gridCol w="1463500"/>
                <a:gridCol w="1463500"/>
                <a:gridCol w="2341600"/>
              </a:tblGrid>
              <a:tr h="210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 Coverage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2,882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(89.8%)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5,802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290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 + End (20.6%)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17,747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887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 + End (15.5%)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1"/>
          <p:cNvSpPr/>
          <p:nvPr/>
        </p:nvSpPr>
        <p:spPr>
          <a:xfrm>
            <a:off x="201075" y="7690929"/>
            <a:ext cx="7317600" cy="255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09127" y="7649536"/>
            <a:ext cx="722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MONOCULAR PIPELINE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265120" y="7982776"/>
            <a:ext cx="72261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Feature Detection:  ORB on 5×5 grid → 3,000 features max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Matching:  BFMatcher kNN + Lowe ratio test (threshold 0.75)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Pose (init):  Essential matrix via 5-point RANSAC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Scale Recovery:  s = d₀ / z_N  (depth-percentile method)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room2:     d₀=2.0 m, N=25th pct → scale ≈ 0.111 (9× underscaled)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corridor3: d₀=5.0 m, N=50th pct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outdoors5: d₀=5.0 m, N=75th pct → scale ≈ 0.103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Tracking:  LK optical flow → PnP + RANSAC → local BA (7-frame window)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75925" y="10215952"/>
            <a:ext cx="7317600" cy="307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267425" y="10196323"/>
            <a:ext cx="619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STEREO PIPELINE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267470" y="10544562"/>
            <a:ext cx="72261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Rectification:  fisheye undistort → stereo rectify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Depth:  StereoSGBM → Z = fB / d,  fB = 18.92 px·m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Depth update disabled for corridor3 / outdoors5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(Z &gt; 5 m → SGBM noise σ_Z ≈ 6 m — biases PnP rotation)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Tracking:  same LK + PnP + BA pipeline as monocular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7728965" y="2788920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7802117" y="2798063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QUANTITATIVE RESULTS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7774686" y="3118104"/>
            <a:ext cx="72260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Table 1 — room2  (full GT trajectory)</a:t>
            </a:r>
            <a:endParaRPr/>
          </a:p>
        </p:txBody>
      </p:sp>
      <p:graphicFrame>
        <p:nvGraphicFramePr>
          <p:cNvPr id="108" name="Google Shape;108;p1"/>
          <p:cNvGraphicFramePr/>
          <p:nvPr/>
        </p:nvGraphicFramePr>
        <p:xfrm>
          <a:off x="7728965" y="3364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{5D53639D-4725-49BB-A089-908B5F014B0A}</a:tableStyleId>
              </a:tblPr>
              <a:tblGrid>
                <a:gridCol w="2780650"/>
                <a:gridCol w="2414775"/>
                <a:gridCol w="21220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 RMSE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1.215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0.439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0.111 (9× under)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 (metric)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/ 2882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2882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110.0 fps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37.9 fps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1"/>
          <p:cNvSpPr txBox="1"/>
          <p:nvPr/>
        </p:nvSpPr>
        <p:spPr>
          <a:xfrm>
            <a:off x="7715274" y="5118429"/>
            <a:ext cx="722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  Stereo achieves 64% lower ATE vs. monocular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7783824" y="5406423"/>
            <a:ext cx="722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Table 2 — corridor3  (partial GT)</a:t>
            </a:r>
            <a:endParaRPr/>
          </a:p>
        </p:txBody>
      </p:sp>
      <p:graphicFrame>
        <p:nvGraphicFramePr>
          <p:cNvPr id="111" name="Google Shape;111;p1"/>
          <p:cNvGraphicFramePr/>
          <p:nvPr/>
        </p:nvGraphicFramePr>
        <p:xfrm>
          <a:off x="7738115" y="56875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{5D53639D-4725-49BB-A089-908B5F014B0A}</a:tableStyleId>
              </a:tblPr>
              <a:tblGrid>
                <a:gridCol w="2780650"/>
                <a:gridCol w="2414775"/>
                <a:gridCol w="2122075"/>
              </a:tblGrid>
              <a:tr h="37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3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 Drift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12.78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5.04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</a:tr>
              <a:tr h="3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ATE start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0.735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0.095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</a:tr>
              <a:tr h="3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ATE end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0.738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0.216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</a:tr>
              <a:tr h="24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/ 5802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/ 5802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2" name="Google Shape;112;p1"/>
          <p:cNvSpPr txBox="1"/>
          <p:nvPr/>
        </p:nvSpPr>
        <p:spPr>
          <a:xfrm>
            <a:off x="7715274" y="7828792"/>
            <a:ext cx="722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Table 3 — outdoors5  (partial GT, large scale)</a:t>
            </a:r>
            <a:endParaRPr/>
          </a:p>
        </p:txBody>
      </p:sp>
      <p:graphicFrame>
        <p:nvGraphicFramePr>
          <p:cNvPr id="113" name="Google Shape;113;p1"/>
          <p:cNvGraphicFramePr/>
          <p:nvPr/>
        </p:nvGraphicFramePr>
        <p:xfrm>
          <a:off x="7738103" y="80603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{5D53639D-4725-49BB-A089-908B5F014B0A}</a:tableStyleId>
              </a:tblPr>
              <a:tblGrid>
                <a:gridCol w="2780650"/>
                <a:gridCol w="2414775"/>
                <a:gridCol w="2122075"/>
              </a:tblGrid>
              <a:tr h="421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4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 Drift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16.52 m*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33.09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Path length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455.8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926.7 m (metric)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4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ATE start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0.661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0.343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/ 17747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/ 17747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1"/>
          <p:cNvSpPr txBox="1"/>
          <p:nvPr/>
        </p:nvSpPr>
        <p:spPr>
          <a:xfrm>
            <a:off x="7624011" y="10120742"/>
            <a:ext cx="7226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* Mono path ×10 underscaled — drift comparison misleading.</a:t>
            </a:r>
            <a:b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Stereo drift: heading error from noisy disparity at 5–20 m feature depth.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7702705" y="11164820"/>
            <a:ext cx="722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CLAHE ILLUMINATION ABLATION</a:t>
            </a:r>
            <a:endParaRPr/>
          </a:p>
        </p:txBody>
      </p:sp>
      <p:graphicFrame>
        <p:nvGraphicFramePr>
          <p:cNvPr id="116" name="Google Shape;116;p1"/>
          <p:cNvGraphicFramePr/>
          <p:nvPr/>
        </p:nvGraphicFramePr>
        <p:xfrm>
          <a:off x="7797540" y="10930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{5D53639D-4725-49BB-A089-908B5F014B0A}</a:tableStyleId>
              </a:tblPr>
              <a:tblGrid>
                <a:gridCol w="1433775"/>
                <a:gridCol w="1362100"/>
                <a:gridCol w="1505475"/>
                <a:gridCol w="931950"/>
                <a:gridCol w="1935600"/>
              </a:tblGrid>
              <a:tr h="3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CLAHE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 / Drift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 (prod)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0.439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 (abl)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0.785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 (prod)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5.04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 (abl)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12.44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 (prod)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33.09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 (abl)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201.45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1"/>
          <p:cNvSpPr txBox="1"/>
          <p:nvPr/>
        </p:nvSpPr>
        <p:spPr>
          <a:xfrm>
            <a:off x="7702699" y="10613934"/>
            <a:ext cx="722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15229331" y="2788920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15302483" y="2798063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TRAJECTORY VISUALISATION</a:t>
            </a:r>
            <a:endParaRPr/>
          </a:p>
        </p:txBody>
      </p:sp>
      <p:pic>
        <p:nvPicPr>
          <p:cNvPr descr="comparison_3d.png" id="120" name="Google Shape;1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5051" y="3118104"/>
            <a:ext cx="7226046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/>
          <p:cNvSpPr txBox="1"/>
          <p:nvPr/>
        </p:nvSpPr>
        <p:spPr>
          <a:xfrm>
            <a:off x="15275051" y="6629400"/>
            <a:ext cx="722604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room2  |  Blue = Mono  ·  Red = Stereo  ·  Green = GT</a:t>
            </a:r>
            <a:endParaRPr/>
          </a:p>
        </p:txBody>
      </p:sp>
      <p:pic>
        <p:nvPicPr>
          <p:cNvPr descr="comparison_3d.png" id="122" name="Google Shape;1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75051" y="6940296"/>
            <a:ext cx="7226046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15275051" y="10451592"/>
            <a:ext cx="722604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corridor3  |  Blue = Mono  ·  Red = Stereo  ·  Green = GT</a:t>
            </a:r>
            <a:endParaRPr/>
          </a:p>
        </p:txBody>
      </p:sp>
      <p:pic>
        <p:nvPicPr>
          <p:cNvPr descr="comparison_3d.png" id="124" name="Google Shape;12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75051" y="10762488"/>
            <a:ext cx="7226046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 txBox="1"/>
          <p:nvPr/>
        </p:nvSpPr>
        <p:spPr>
          <a:xfrm>
            <a:off x="15275051" y="14273784"/>
            <a:ext cx="722604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outdoors5  |  Blue = Mono  ·  Red = Stereo  ·  Green = GT</a:t>
            </a:r>
            <a:endParaRPr/>
          </a:p>
        </p:txBody>
      </p:sp>
      <p:sp>
        <p:nvSpPr>
          <p:cNvPr id="126" name="Google Shape;126;p1"/>
          <p:cNvSpPr/>
          <p:nvPr/>
        </p:nvSpPr>
        <p:spPr>
          <a:xfrm>
            <a:off x="15229331" y="14657831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5302483" y="14666976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TRACKING SAMPLES</a:t>
            </a:r>
            <a:endParaRPr/>
          </a:p>
        </p:txBody>
      </p:sp>
      <p:sp>
        <p:nvSpPr>
          <p:cNvPr id="128" name="Google Shape;128;p1"/>
          <p:cNvSpPr txBox="1"/>
          <p:nvPr/>
        </p:nvSpPr>
        <p:spPr>
          <a:xfrm>
            <a:off x="15275051" y="16943831"/>
            <a:ext cx="72260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Row 1: ORB descriptor matches.  Row 2: LK optical flow tracking.  (room2)</a:t>
            </a:r>
            <a:endParaRPr/>
          </a:p>
        </p:txBody>
      </p:sp>
      <p:sp>
        <p:nvSpPr>
          <p:cNvPr id="129" name="Google Shape;129;p1"/>
          <p:cNvSpPr/>
          <p:nvPr/>
        </p:nvSpPr>
        <p:spPr>
          <a:xfrm>
            <a:off x="22729697" y="2788920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2802849" y="2798063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3D RECONSTRUCTION</a:t>
            </a:r>
            <a:endParaRPr/>
          </a:p>
        </p:txBody>
      </p:sp>
      <p:pic>
        <p:nvPicPr>
          <p:cNvPr descr="disparity_map_1.png" id="131" name="Google Shape;13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775417" y="3118104"/>
            <a:ext cx="3590162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pth_map_1.png" id="132" name="Google Shape;13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411300" y="3118104"/>
            <a:ext cx="3590162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 txBox="1"/>
          <p:nvPr/>
        </p:nvSpPr>
        <p:spPr>
          <a:xfrm>
            <a:off x="22775417" y="5166360"/>
            <a:ext cx="72260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SGBM disparity (left) and metric depth Z = fB/d (right) · room2 frame 288</a:t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22729697" y="5422392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22802849" y="5431536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HEADING DRIFT — OUTDOOR STEREO</a:t>
            </a:r>
            <a:endParaRPr/>
          </a:p>
        </p:txBody>
      </p:sp>
      <p:sp>
        <p:nvSpPr>
          <p:cNvPr id="136" name="Google Shape;136;p1"/>
          <p:cNvSpPr txBox="1"/>
          <p:nvPr/>
        </p:nvSpPr>
        <p:spPr>
          <a:xfrm>
            <a:off x="22775417" y="5751576"/>
            <a:ext cx="722604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fB = 18.92 px·m  ·  Z = 15 m  →  d ≈ 1.3 px disparity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σ_d = 0.5 px  →  σ_Z ≈ 6 m depth error per map point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PnP rotation bias per frame → heading drift over 17,747 frames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mechanism as corridor3, but 3× deeper &amp; 3× longer sequence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Z_max = 20 m required; restricting to 5 m starves PnP tracker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Stereo maintains correct metric scale (≈927 m) throughout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22729697" y="7534656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22802849" y="7543800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 VS. STATE OF THE ART (room2)</a:t>
            </a:r>
            <a:endParaRPr/>
          </a:p>
        </p:txBody>
      </p:sp>
      <p:graphicFrame>
        <p:nvGraphicFramePr>
          <p:cNvPr id="139" name="Google Shape;139;p1"/>
          <p:cNvGraphicFramePr/>
          <p:nvPr/>
        </p:nvGraphicFramePr>
        <p:xfrm>
          <a:off x="22729697" y="7863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{5D53639D-4725-49BB-A089-908B5F014B0A}</a:tableStyleId>
              </a:tblPr>
              <a:tblGrid>
                <a:gridCol w="2487950"/>
                <a:gridCol w="2048900"/>
                <a:gridCol w="878100"/>
                <a:gridCol w="1902550"/>
              </a:tblGrid>
              <a:tr h="210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 (m)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Ours (Stereo)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ORB-SLAM2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~0.05–0.10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ORB-SLAM3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 + IMU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~0.01–0.03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22775417" y="8778240"/>
            <a:ext cx="722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"/>
          <p:cNvSpPr/>
          <p:nvPr/>
        </p:nvSpPr>
        <p:spPr>
          <a:xfrm>
            <a:off x="22729697" y="9253728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22802849" y="9262872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143" name="Google Shape;143;p1"/>
          <p:cNvSpPr txBox="1"/>
          <p:nvPr/>
        </p:nvSpPr>
        <p:spPr>
          <a:xfrm>
            <a:off x="22775417" y="9582911"/>
            <a:ext cx="7226046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Stereo outperforms mono on 2 / 3 sequences: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room2 — 64% ATE reduction · corridor3 — 2.5× lower drift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✗  Outdoors5: heading drift from noisy disparity at 5–20 m feature depth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CLAHE critical for indoor robustness (83 → 14 failures in corridor3)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✗  CLAHE harmful for outdoor stereo (sky / foliage over-enhancement)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RANSAC inlier ratio &gt; 0.975 across all sequences (dynamic robustness)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 Future: loop closure (DBoW2), IMU fusion, wider-baseline hardware</a:t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0" y="21022056"/>
            <a:ext cx="30275784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"/>
          <p:cNvSpPr txBox="1"/>
          <p:nvPr/>
        </p:nvSpPr>
        <p:spPr>
          <a:xfrm>
            <a:off x="274320" y="21022076"/>
            <a:ext cx="2972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FDBFF"/>
                </a:solidFill>
                <a:latin typeface="Calibri"/>
                <a:ea typeface="Calibri"/>
                <a:cs typeface="Calibri"/>
                <a:sym typeface="Calibri"/>
              </a:rPr>
              <a:t>Contact: mayetbekele22@gmail.com  |  Université de Bourgogne · VIBOT Program · 2026</a:t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162300" y="12151195"/>
            <a:ext cx="7315200" cy="255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352152" y="12125245"/>
            <a:ext cx="716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ARCHITECTURE</a:t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182875" y="19039700"/>
            <a:ext cx="7381500" cy="255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256025" y="19039700"/>
            <a:ext cx="686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EQUATIONS</a:t>
            </a:r>
            <a:endParaRPr/>
          </a:p>
        </p:txBody>
      </p:sp>
      <p:sp>
        <p:nvSpPr>
          <p:cNvPr id="150" name="Google Shape;150;p1"/>
          <p:cNvSpPr/>
          <p:nvPr/>
        </p:nvSpPr>
        <p:spPr>
          <a:xfrm>
            <a:off x="162300" y="19321275"/>
            <a:ext cx="7381500" cy="157290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430815" y="19368869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Stereo depth:   Z = fB / d</a:t>
            </a:r>
            <a:endParaRPr/>
          </a:p>
        </p:txBody>
      </p:sp>
      <p:sp>
        <p:nvSpPr>
          <p:cNvPr id="152" name="Google Shape;152;p1"/>
          <p:cNvSpPr txBox="1"/>
          <p:nvPr/>
        </p:nvSpPr>
        <p:spPr>
          <a:xfrm>
            <a:off x="447940" y="19688929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Mono scale:     s = d₀ / zₙ</a:t>
            </a:r>
            <a:endParaRPr/>
          </a:p>
        </p:txBody>
      </p:sp>
      <p:sp>
        <p:nvSpPr>
          <p:cNvPr id="153" name="Google Shape;153;p1"/>
          <p:cNvSpPr txBox="1"/>
          <p:nvPr/>
        </p:nvSpPr>
        <p:spPr>
          <a:xfrm>
            <a:off x="447940" y="19933914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σ₂ noise:       σ_Z = Z² · σ_d / fB</a:t>
            </a:r>
            <a:endParaRPr/>
          </a:p>
        </p:txBody>
      </p:sp>
      <p:sp>
        <p:nvSpPr>
          <p:cNvPr id="154" name="Google Shape;154;p1"/>
          <p:cNvSpPr txBox="1"/>
          <p:nvPr/>
        </p:nvSpPr>
        <p:spPr>
          <a:xfrm>
            <a:off x="394277" y="20305324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ATE RMSE:       √( 1/N · Σᵢ ‖Tᵢ ⊖ Ţᵢ‖² )</a:t>
            </a:r>
            <a:endParaRPr/>
          </a:p>
        </p:txBody>
      </p:sp>
      <p:sp>
        <p:nvSpPr>
          <p:cNvPr id="155" name="Google Shape;155;p1"/>
          <p:cNvSpPr/>
          <p:nvPr/>
        </p:nvSpPr>
        <p:spPr>
          <a:xfrm>
            <a:off x="7739263" y="13464576"/>
            <a:ext cx="7315200" cy="329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7738677" y="13435425"/>
            <a:ext cx="504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DYNAMIC SCENE SENSITIVITY</a:t>
            </a:r>
            <a:endParaRPr/>
          </a:p>
        </p:txBody>
      </p:sp>
      <p:sp>
        <p:nvSpPr>
          <p:cNvPr id="157" name="Google Shape;157;p1"/>
          <p:cNvSpPr txBox="1"/>
          <p:nvPr/>
        </p:nvSpPr>
        <p:spPr>
          <a:xfrm>
            <a:off x="7784981" y="13039338"/>
            <a:ext cx="722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RANSAC inlier ratio r = n_inliers / n_tracked per frame.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Mean r &gt; 0.975 confirms static-scene model holds.</a:t>
            </a:r>
            <a:endParaRPr/>
          </a:p>
        </p:txBody>
      </p:sp>
      <p:graphicFrame>
        <p:nvGraphicFramePr>
          <p:cNvPr id="158" name="Google Shape;158;p1"/>
          <p:cNvGraphicFramePr/>
          <p:nvPr/>
        </p:nvGraphicFramePr>
        <p:xfrm>
          <a:off x="7739242" y="138189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{5D53639D-4725-49BB-A089-908B5F014B0A}</a:tableStyleId>
              </a:tblPr>
              <a:tblGrid>
                <a:gridCol w="1463050"/>
                <a:gridCol w="1463050"/>
                <a:gridCol w="1463050"/>
                <a:gridCol w="1463050"/>
                <a:gridCol w="1463050"/>
              </a:tblGrid>
              <a:tr h="320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&lt; 0.70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&lt; 0.50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"/>
          <p:cNvSpPr txBox="1"/>
          <p:nvPr/>
        </p:nvSpPr>
        <p:spPr>
          <a:xfrm>
            <a:off x="7784988" y="16029413"/>
            <a:ext cx="722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Dynamic objects (pedestrians, cyclists) remain sparse vs ~3000 background features. RANSAC @ 99.9% confidence rejects them effectively.</a:t>
            </a:r>
            <a:endParaRPr/>
          </a:p>
        </p:txBody>
      </p:sp>
      <p:sp>
        <p:nvSpPr>
          <p:cNvPr id="160" name="Google Shape;160;p1"/>
          <p:cNvSpPr/>
          <p:nvPr/>
        </p:nvSpPr>
        <p:spPr>
          <a:xfrm>
            <a:off x="7739263" y="16413474"/>
            <a:ext cx="7315200" cy="3657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7754128" y="16435335"/>
            <a:ext cx="337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 ROBUSTNESS</a:t>
            </a:r>
            <a:endParaRPr/>
          </a:p>
        </p:txBody>
      </p:sp>
      <p:graphicFrame>
        <p:nvGraphicFramePr>
          <p:cNvPr id="162" name="Google Shape;162;p1"/>
          <p:cNvGraphicFramePr/>
          <p:nvPr/>
        </p:nvGraphicFramePr>
        <p:xfrm>
          <a:off x="7739242" y="167990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{5D53639D-4725-49BB-A089-908B5F014B0A}</a:tableStyleId>
              </a:tblPr>
              <a:tblGrid>
                <a:gridCol w="1463050"/>
                <a:gridCol w="1463050"/>
                <a:gridCol w="1463050"/>
                <a:gridCol w="1463050"/>
                <a:gridCol w="1463050"/>
              </a:tblGrid>
              <a:tr h="33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 fail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 reloc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 fail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 reinit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329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e=0, vd=0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29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e=0, vd=0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29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e=0, vd=0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1"/>
          <p:cNvSpPr txBox="1"/>
          <p:nvPr/>
        </p:nvSpPr>
        <p:spPr>
          <a:xfrm>
            <a:off x="7754125" y="18114261"/>
            <a:ext cx="7223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Success rate: room2 mono 99.83% / stereo 99.90%  ·  corridor3 99.79% / 99.74%  ·  outdoors5 99.99% / 99.93%</a:t>
            </a:r>
            <a:endParaRPr/>
          </a:p>
        </p:txBody>
      </p:sp>
      <p:sp>
        <p:nvSpPr>
          <p:cNvPr id="164" name="Google Shape;164;p1"/>
          <p:cNvSpPr/>
          <p:nvPr/>
        </p:nvSpPr>
        <p:spPr>
          <a:xfrm>
            <a:off x="7739275" y="18409825"/>
            <a:ext cx="7315200" cy="307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7859302" y="18388575"/>
            <a:ext cx="473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DETECTOR COMPARISON</a:t>
            </a:r>
            <a:endParaRPr/>
          </a:p>
        </p:txBody>
      </p:sp>
      <p:graphicFrame>
        <p:nvGraphicFramePr>
          <p:cNvPr id="166" name="Google Shape;166;p1"/>
          <p:cNvGraphicFramePr/>
          <p:nvPr/>
        </p:nvGraphicFramePr>
        <p:xfrm>
          <a:off x="7739267" y="18824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{5D53639D-4725-49BB-A089-908B5F014B0A}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 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SIFT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~1.18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 fps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Rejected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1.215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 fps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Selected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1"/>
          <p:cNvSpPr/>
          <p:nvPr/>
        </p:nvSpPr>
        <p:spPr>
          <a:xfrm>
            <a:off x="7739263" y="19676375"/>
            <a:ext cx="7315200" cy="3657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7881075" y="19721525"/>
            <a:ext cx="67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LK OVER DESCRIPTOR MATCHING?</a:t>
            </a:r>
            <a:endParaRPr/>
          </a:p>
        </p:txBody>
      </p:sp>
      <p:sp>
        <p:nvSpPr>
          <p:cNvPr id="169" name="Google Shape;169;p1"/>
          <p:cNvSpPr txBox="1"/>
          <p:nvPr/>
        </p:nvSpPr>
        <p:spPr>
          <a:xfrm>
            <a:off x="7830706" y="20011122"/>
            <a:ext cx="7132200" cy="8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Sub-pixel accuracy — continuous optical-flow update vs discrete keypoint match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No re-detection overhead — tracks existing corners frame-to-frame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~3× faster at equal feature count (~50 fps vs ~17 fps for SIFT matching)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Empirical: descriptor matching → +38–93% higher drift across all sequences</a:t>
            </a:r>
            <a:endParaRPr/>
          </a:p>
        </p:txBody>
      </p:sp>
      <p:sp>
        <p:nvSpPr>
          <p:cNvPr id="170" name="Google Shape;170;p1"/>
          <p:cNvSpPr/>
          <p:nvPr/>
        </p:nvSpPr>
        <p:spPr>
          <a:xfrm>
            <a:off x="15323059" y="18452602"/>
            <a:ext cx="7315200" cy="255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15312811" y="18392015"/>
            <a:ext cx="716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COORDINATE SYSTEMS</a:t>
            </a:r>
            <a:endParaRPr/>
          </a:p>
        </p:txBody>
      </p:sp>
      <p:sp>
        <p:nvSpPr>
          <p:cNvPr id="172" name="Google Shape;172;p1"/>
          <p:cNvSpPr txBox="1"/>
          <p:nvPr/>
        </p:nvSpPr>
        <p:spPr>
          <a:xfrm>
            <a:off x="15137900" y="18937225"/>
            <a:ext cx="3520500" cy="1785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GT World Frame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 Z ↑ (up)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 └─── X (floor)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Y (floor)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X: right   Y: forward   Z: 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Floor motion: X–Y plane</a:t>
            </a:r>
            <a:endParaRPr/>
          </a:p>
        </p:txBody>
      </p:sp>
      <p:sp>
        <p:nvSpPr>
          <p:cNvPr id="173" name="Google Shape;173;p1"/>
          <p:cNvSpPr txBox="1"/>
          <p:nvPr/>
        </p:nvSpPr>
        <p:spPr>
          <a:xfrm>
            <a:off x="18555425" y="18937225"/>
            <a:ext cx="3520500" cy="1785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VO Camera Frame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 Z (forward, optical)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└──── X (right)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↓ Y (down)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X: right   Y: down   Z: forward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Floor motion: X–Z plane</a:t>
            </a:r>
            <a:endParaRPr/>
          </a:p>
        </p:txBody>
      </p:sp>
      <p:sp>
        <p:nvSpPr>
          <p:cNvPr id="174" name="Google Shape;174;p1"/>
          <p:cNvSpPr/>
          <p:nvPr/>
        </p:nvSpPr>
        <p:spPr>
          <a:xfrm>
            <a:off x="22731984" y="11640312"/>
            <a:ext cx="731520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22805135" y="11640312"/>
            <a:ext cx="7168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 3D POINT CLOUDS</a:t>
            </a:r>
            <a:endParaRPr/>
          </a:p>
        </p:txBody>
      </p:sp>
      <p:sp>
        <p:nvSpPr>
          <p:cNvPr id="176" name="Google Shape;176;p1"/>
          <p:cNvSpPr txBox="1"/>
          <p:nvPr/>
        </p:nvSpPr>
        <p:spPr>
          <a:xfrm>
            <a:off x="22805136" y="1194206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Accumulated from up to 800 keyframes  ·  Statistical Outlier Removal (SOR)  ·  ~1M points per sequence</a:t>
            </a:r>
            <a:endParaRPr/>
          </a:p>
        </p:txBody>
      </p:sp>
      <p:pic>
        <p:nvPicPr>
          <p:cNvPr descr="pointcloud_full.png" id="177" name="Google Shape;177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731984" y="12234672"/>
            <a:ext cx="2350008" cy="2350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intcloud_full.png" id="178" name="Google Shape;17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155144" y="12234672"/>
            <a:ext cx="2350008" cy="235000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"/>
          <p:cNvSpPr txBox="1"/>
          <p:nvPr/>
        </p:nvSpPr>
        <p:spPr>
          <a:xfrm>
            <a:off x="22731984" y="14621256"/>
            <a:ext cx="2350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room2 (~5m room)</a:t>
            </a:r>
            <a:endParaRPr/>
          </a:p>
        </p:txBody>
      </p:sp>
      <p:sp>
        <p:nvSpPr>
          <p:cNvPr id="180" name="Google Shape;180;p1"/>
          <p:cNvSpPr txBox="1"/>
          <p:nvPr/>
        </p:nvSpPr>
        <p:spPr>
          <a:xfrm>
            <a:off x="25155144" y="14621256"/>
            <a:ext cx="2350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corridor3 (~45m)</a:t>
            </a:r>
            <a:endParaRPr/>
          </a:p>
        </p:txBody>
      </p:sp>
      <p:sp>
        <p:nvSpPr>
          <p:cNvPr id="181" name="Google Shape;181;p1"/>
          <p:cNvSpPr txBox="1"/>
          <p:nvPr/>
        </p:nvSpPr>
        <p:spPr>
          <a:xfrm>
            <a:off x="27587448" y="14621256"/>
            <a:ext cx="2350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outdoors5 (~927m)</a:t>
            </a:r>
            <a:endParaRPr/>
          </a:p>
        </p:txBody>
      </p:sp>
      <p:sp>
        <p:nvSpPr>
          <p:cNvPr id="182" name="Google Shape;182;p1"/>
          <p:cNvSpPr txBox="1"/>
          <p:nvPr/>
        </p:nvSpPr>
        <p:spPr>
          <a:xfrm>
            <a:off x="22777704" y="1487728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SOR cleaning: room2 2,562K→2,347K pts (8.4% removed)  ·  corridor3 2,220K→2,183K pts (1.7%)  ·  outdoors5 1,769K→1,704K pts (3.8%)</a:t>
            </a:r>
            <a:endParaRPr/>
          </a:p>
        </p:txBody>
      </p:sp>
      <p:sp>
        <p:nvSpPr>
          <p:cNvPr id="183" name="Google Shape;183;p1"/>
          <p:cNvSpPr/>
          <p:nvPr/>
        </p:nvSpPr>
        <p:spPr>
          <a:xfrm>
            <a:off x="22731984" y="15307055"/>
            <a:ext cx="731520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 txBox="1"/>
          <p:nvPr/>
        </p:nvSpPr>
        <p:spPr>
          <a:xfrm>
            <a:off x="22805135" y="15307055"/>
            <a:ext cx="7168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RPE ANALYSIS (room2)</a:t>
            </a:r>
            <a:endParaRPr/>
          </a:p>
        </p:txBody>
      </p:sp>
      <p:graphicFrame>
        <p:nvGraphicFramePr>
          <p:cNvPr id="185" name="Google Shape;185;p1"/>
          <p:cNvGraphicFramePr/>
          <p:nvPr/>
        </p:nvGraphicFramePr>
        <p:xfrm>
          <a:off x="22731984" y="15617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{5D53639D-4725-49BB-A089-908B5F014B0A}</a:tableStyleId>
              </a:tblPr>
              <a:tblGrid>
                <a:gridCol w="1920250"/>
                <a:gridCol w="1600200"/>
                <a:gridCol w="1965950"/>
                <a:gridCol w="1810525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RPE trans δ=1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0.106 m/frame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0.179 m/frame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per-frame error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RPE trans 100m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N/A*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3.553 m (885 seg)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100m sub-segments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RPE rot 60°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84.21°/seg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89.08°/seg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rotation error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1"/>
          <p:cNvSpPr txBox="1"/>
          <p:nvPr/>
        </p:nvSpPr>
        <p:spPr>
          <a:xfrm>
            <a:off x="22777704" y="16495775"/>
            <a:ext cx="72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"/>
          <p:cNvSpPr/>
          <p:nvPr/>
        </p:nvSpPr>
        <p:spPr>
          <a:xfrm>
            <a:off x="22731984" y="16861535"/>
            <a:ext cx="731520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22805135" y="16861535"/>
            <a:ext cx="7168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HIGHLIGHTS</a:t>
            </a:r>
            <a:endParaRPr/>
          </a:p>
        </p:txBody>
      </p:sp>
      <p:sp>
        <p:nvSpPr>
          <p:cNvPr id="189" name="Google Shape;189;p1"/>
          <p:cNvSpPr txBox="1"/>
          <p:nvPr/>
        </p:nvSpPr>
        <p:spPr>
          <a:xfrm>
            <a:off x="22805136" y="17172431"/>
            <a:ext cx="713232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Python · OpenCV 4.13 · NumPy 2.x · SciPy — no GPU, no deep learning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92–110 fps mono (~4.6–5.5× real-time) · 38–48 fps stereo (~1.9–2.4×) on Intel i7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np.random.seed(42) — fully reproducible results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All outputs: trajectory TXT (TUM format) · PNG plots · PLY point clouds · evaluation CSV</a:t>
            </a:r>
            <a:endParaRPr/>
          </a:p>
        </p:txBody>
      </p:sp>
      <p:sp>
        <p:nvSpPr>
          <p:cNvPr id="190" name="Google Shape;190;p1"/>
          <p:cNvSpPr/>
          <p:nvPr/>
        </p:nvSpPr>
        <p:spPr>
          <a:xfrm>
            <a:off x="22731984" y="18196560"/>
            <a:ext cx="7315200" cy="255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REPOSITORY                                            References</a:t>
            </a:r>
            <a:endParaRPr/>
          </a:p>
        </p:txBody>
      </p:sp>
      <p:pic>
        <p:nvPicPr>
          <p:cNvPr descr="qr_github.png" id="191" name="Google Shape;19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218875" y="18834900"/>
            <a:ext cx="2125224" cy="166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"/>
          <p:cNvSpPr txBox="1"/>
          <p:nvPr/>
        </p:nvSpPr>
        <p:spPr>
          <a:xfrm>
            <a:off x="22805131" y="18516600"/>
            <a:ext cx="269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Scan to view full results &amp; README</a:t>
            </a:r>
            <a:endParaRPr/>
          </a:p>
        </p:txBody>
      </p:sp>
      <p:sp>
        <p:nvSpPr>
          <p:cNvPr id="193" name="Google Shape;193;p1"/>
          <p:cNvSpPr txBox="1"/>
          <p:nvPr/>
        </p:nvSpPr>
        <p:spPr>
          <a:xfrm>
            <a:off x="22858806" y="20545275"/>
            <a:ext cx="314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github.com/mayet16/Stereo_Visual_Odometry</a:t>
            </a:r>
            <a:endParaRPr/>
          </a:p>
        </p:txBody>
      </p:sp>
      <p:pic>
        <p:nvPicPr>
          <p:cNvPr id="194" name="Google Shape;194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578300" y="12234675"/>
            <a:ext cx="2697476" cy="23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297925" y="15051025"/>
            <a:ext cx="7040876" cy="310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"/>
          <p:cNvSpPr/>
          <p:nvPr/>
        </p:nvSpPr>
        <p:spPr>
          <a:xfrm>
            <a:off x="7725950" y="10549950"/>
            <a:ext cx="7296900" cy="329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CLAHE ILLUMINATION ABLATION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1"/>
          <p:cNvSpPr txBox="1"/>
          <p:nvPr/>
        </p:nvSpPr>
        <p:spPr>
          <a:xfrm>
            <a:off x="7774675" y="7426913"/>
            <a:ext cx="35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  Stereo: 2.5× lower drift in confined corridor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8" name="Google Shape;198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6025" y="15499075"/>
            <a:ext cx="7226102" cy="347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78025" y="12508725"/>
            <a:ext cx="7376660" cy="2888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5651299" y="18608049"/>
            <a:ext cx="4490622" cy="19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